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endParaRPr/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0F172A"/>
                </a:solidFill>
              </a:rPr>
              <a:t>Theme:  </a:t>
            </a:r>
            <a:r>
              <a:rPr b="0" sz="1400">
                <a:solidFill>
                  <a:srgbClr val="0E7490"/>
                </a:solidFill>
              </a:rPr>
              <a:t>Theme 01 — Agentic Code Intelligence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0F172A"/>
                </a:solidFill>
              </a:rPr>
              <a:t>Project:  </a:t>
            </a:r>
            <a:r>
              <a:rPr b="0" sz="1400">
                <a:solidFill>
                  <a:srgbClr val="0E7490"/>
                </a:solidFill>
              </a:rPr>
              <a:t>AURA-Code: Neuro-Symbolic Agentic Code Navigator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0F172A"/>
                </a:solidFill>
              </a:rPr>
              <a:t>Team:  </a:t>
            </a:r>
            <a:r>
              <a:rPr b="0" sz="1400">
                <a:solidFill>
                  <a:srgbClr val="0E7490"/>
                </a:solidFill>
              </a:rPr>
              <a:t>Team AURA  |  Thapar Institute of Engineering &amp; Technology, Patiala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0F172A"/>
                </a:solidFill>
              </a:rPr>
              <a:t>Member 1:  </a:t>
            </a:r>
            <a:r>
              <a:rPr b="0" sz="1400">
                <a:solidFill>
                  <a:srgbClr val="0E7490"/>
                </a:solidFill>
              </a:rPr>
              <a:t>Aaditya Bansal  —  Systems Architecture &amp; Engine Design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0F172A"/>
                </a:solidFill>
              </a:rPr>
              <a:t>Member 2:  </a:t>
            </a:r>
            <a:r>
              <a:rPr b="0" sz="1400">
                <a:solidFill>
                  <a:srgbClr val="0E7490"/>
                </a:solidFill>
              </a:rPr>
              <a:t>Arpita Girdhar  —  Program Analysis &amp; AST Engineering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0F172A"/>
                </a:solidFill>
              </a:rPr>
              <a:t>Member 3:  </a:t>
            </a:r>
            <a:r>
              <a:rPr b="0" sz="1400">
                <a:solidFill>
                  <a:srgbClr val="0E7490"/>
                </a:solidFill>
              </a:rPr>
              <a:t>Trijal Mittal  —  Backend API &amp; Evaluation Benchmarks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0F172A"/>
                </a:solidFill>
              </a:rPr>
              <a:t>Member 4:  </a:t>
            </a:r>
            <a:r>
              <a:rPr b="0" sz="1400">
                <a:solidFill>
                  <a:srgbClr val="0E7490"/>
                </a:solidFill>
              </a:rPr>
              <a:t>Jessica  —  Fullstack Dashboard &amp; Visualization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0F172A"/>
                </a:solidFill>
              </a:rPr>
              <a:t>GitHub:  </a:t>
            </a:r>
            <a:r>
              <a:rPr b="0" sz="1400">
                <a:solidFill>
                  <a:srgbClr val="0E7490"/>
                </a:solidFill>
              </a:rPr>
              <a:t>https://github.com/AadityaBansal01/aura-code-intelligence</a:t>
            </a: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Theme 01:  </a:t>
            </a:r>
            <a:r>
              <a:rPr b="0" sz="1500">
                <a:solidFill>
                  <a:srgbClr val="334155"/>
                </a:solidFill>
              </a:rPr>
              <a:t>Agentic Code Intelligence — AURA-Code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The problem:  </a:t>
            </a:r>
            <a:r>
              <a:rPr b="0" sz="1500">
                <a:solidFill>
                  <a:srgbClr val="334155"/>
                </a:solidFill>
              </a:rPr>
              <a:t>Voice-assistant codebases have dozens of agents and thousands of files. A new developer cannot hold that in their head, and neither can an LLM — the full repo never fits in a context window. Finding exactly where something happens takes hours.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Three gaps we close:  </a:t>
            </a:r>
            <a:r>
              <a:rPr b="0" sz="1500">
                <a:solidFill>
                  <a:srgbClr val="334155"/>
                </a:solidFill>
              </a:rPr>
              <a:t>(1) Plain-English queries that return exact file + line, not a vague summary.  (2) Structural order queries — 'which files call tool X before tool Y?' — which vector search gets completely wrong.  (3) Deeplink and constant discovery scattered across micro-services.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Our answer:  </a:t>
            </a:r>
            <a:r>
              <a:rPr b="0" sz="1500">
                <a:solidFill>
                  <a:srgbClr val="334155"/>
                </a:solidFill>
              </a:rPr>
              <a:t>A 100% CPU-only, deterministic engine combining Tree-sitter AST parsing, a Code Property Graph, and subword semantic retrieval. Results in under 1 ms with exact line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1. Dense vector search (RAG):  </a:t>
            </a:r>
            <a:r>
              <a:rPr b="0" sz="1500">
                <a:solidFill>
                  <a:srgbClr val="334155"/>
                </a:solidFill>
              </a:rPr>
              <a:t>Completely order-blind. 'A calls B before C' and 'C calls B before A' produce identical cosine similarity. Fails on every structural sequence query without exception.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2. Long-context LLMs:  </a:t>
            </a:r>
            <a:r>
              <a:rPr b="0" sz="1500">
                <a:solidFill>
                  <a:srgbClr val="334155"/>
                </a:solidFill>
              </a:rPr>
              <a:t>Feeding a full repo into a 1M-token model causes severe recall decay mid-context, costs significantly, and still takes 2–5 seconds — too slow for an interactive developer workflow.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3. Grep / ctags:  </a:t>
            </a:r>
            <a:r>
              <a:rPr b="0" sz="1500">
                <a:solidFill>
                  <a:srgbClr val="334155"/>
                </a:solidFill>
              </a:rPr>
              <a:t>No AST awareness. Cannot verify that two calls happen within the same function scope. Substring collisions flood results with false positives.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4. GPU/cloud solutions:  </a:t>
            </a:r>
            <a:r>
              <a:rPr b="0" sz="1500">
                <a:solidFill>
                  <a:srgbClr val="334155"/>
                </a:solidFill>
              </a:rPr>
              <a:t>Require expensive GPU clusters or send proprietary code to third-party APIs — neither works for an offline, privacy-sensitive workstation.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Three layers that work together:  </a:t>
            </a:r>
            <a:r>
              <a:rPr b="0" sz="150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Layer 1 — AST &amp; Code Property Graph:  </a:t>
            </a:r>
            <a:r>
              <a:rPr b="0" sz="1500">
                <a:solidFill>
                  <a:srgbClr val="334155"/>
                </a:solidFill>
              </a:rPr>
              <a:t>Tree-sitter parses JavaScript at C speed. NetworkX stores every function, call site, and string literal as a directed graph with per-statement execution order indices. Verifying 'A before B within the same function' is a graph traversal — exact and deterministic.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Layer 2 — Hybrid Retrieval:  </a:t>
            </a:r>
            <a:r>
              <a:rPr b="0" sz="1500">
                <a:solidFill>
                  <a:srgbClr val="334155"/>
                </a:solidFill>
              </a:rPr>
              <a:t>CamelCase/snake_case sub-token splitting + TF-IDF + concept coverage scoring resolves plain-English questions without any embedding model or GPU.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Layer 3 — ReAct Agent:  </a:t>
            </a:r>
            <a:r>
              <a:rPr b="0" sz="1500">
                <a:solidFill>
                  <a:srgbClr val="334155"/>
                </a:solidFill>
              </a:rPr>
              <a:t>Classifies query intent (structural / deeplink / semantic), routes to the right engine, reads bounded code windows, returns grounded file:line citations in one pass.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Bonus — CodePath Optimizer:  </a:t>
            </a:r>
            <a:r>
              <a:rPr b="0" sz="1500">
                <a:solidFill>
                  <a:srgbClr val="334155"/>
                </a:solidFill>
              </a:rPr>
              <a:t>Scans surfaced execution traces for serial await waterfalls and generates drop-in Promise.all diffs with estimated latency savings attached.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How to run:  </a:t>
            </a:r>
            <a:r>
              <a:rPr b="0" sz="1500">
                <a:solidFill>
                  <a:srgbClr val="334155"/>
                </a:solidFill>
              </a:rPr>
              <a:t>Clone repo → `bash run.sh` → http://localhost:8000. No API keys, no GPU, no extra setup.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Query 1 — Structural:  </a:t>
            </a:r>
            <a:r>
              <a:rPr b="0" sz="1500">
                <a:solidFill>
                  <a:srgbClr val="334155"/>
                </a:solidFill>
              </a:rPr>
              <a:t>'Which files call requestPermissions before launchDeeplink?'  →  CPG order-index traversal. Returns navigation_agent.js (L21→28) and settings_agent.js (L22→28) in 0.58 ms.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Query 2 — Deeplink:  </a:t>
            </a:r>
            <a:r>
              <a:rPr b="0" sz="1500">
                <a:solidFill>
                  <a:srgbClr val="334155"/>
                </a:solidFill>
              </a:rPr>
              <a:t>'Where is the Bluetooth settings deeplink used?'  →  Inverted literal index. Returns settings_agent.js (L28) and config/deeplinks.js (L8) in 0.42 ms.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Query 3 — Concept:  </a:t>
            </a:r>
            <a:r>
              <a:rPr b="0" sz="1500">
                <a:solidFill>
                  <a:srgbClr val="334155"/>
                </a:solidFill>
              </a:rPr>
              <a:t>'Where does the assistant handle media playback interruptions?'  →  Hybrid retrieval. Surfaces media_agent.js (L17–25) in 0.85 ms.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Dashboard:  </a:t>
            </a:r>
            <a:r>
              <a:rPr b="0" sz="1500">
                <a:solidFill>
                  <a:srgbClr val="334155"/>
                </a:solidFill>
              </a:rPr>
              <a:t>Interactive SVG call graph, step-by-step reasoning log, code diff viewer. Full REST API + Swagger at /docs.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Parsing:  </a:t>
            </a:r>
            <a:r>
              <a:rPr b="0" sz="1500">
                <a:solidFill>
                  <a:srgbClr val="334155"/>
                </a:solidFill>
              </a:rPr>
              <a:t>Tree-sitter 0.26 + tree-sitter-javascript 0.25 — C-speed AST, zero compilation step.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Graph &amp; index:  </a:t>
            </a:r>
            <a:r>
              <a:rPr b="0" sz="1500">
                <a:solidFill>
                  <a:srgbClr val="334155"/>
                </a:solidFill>
              </a:rPr>
              <a:t>NetworkX 3.7 MultiDiGraph for CPG; scikit-learn 1.9 + NumPy 2.5 for subword TF-IDF.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API server:  </a:t>
            </a:r>
            <a:r>
              <a:rPr b="0" sz="1500">
                <a:solidFill>
                  <a:srgbClr val="334155"/>
                </a:solidFill>
              </a:rPr>
              <a:t>FastAPI 0.142 + Uvicorn ASGI — auto-generated Swagger docs at /docs.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Frontend:  </a:t>
            </a:r>
            <a:r>
              <a:rPr b="0" sz="1500">
                <a:solidFill>
                  <a:srgbClr val="334155"/>
                </a:solidFill>
              </a:rPr>
              <a:t>Vanilla HTML5, CSS (dark glassmorphic), Vanilla JS — no framework bloat, loads in &lt; 20 ms.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Testing &amp; deploy:  </a:t>
            </a:r>
            <a:r>
              <a:rPr b="0" sz="1500">
                <a:solidFill>
                  <a:srgbClr val="334155"/>
                </a:solidFill>
              </a:rPr>
              <a:t>18 pytest unit tests across all engine modules; Docker + docker-compose for one-command startup.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Hardware:  </a:t>
            </a:r>
            <a:r>
              <a:rPr b="0" sz="1500">
                <a:solidFill>
                  <a:srgbClr val="334155"/>
                </a:solidFill>
              </a:rPr>
              <a:t>100% CPU. Zero GPU, zero VRAM, zero external API keys. Entirely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Target users:  </a:t>
            </a:r>
            <a:r>
              <a:rPr b="0" sz="1500">
                <a:solidFill>
                  <a:srgbClr val="334155"/>
                </a:solidFill>
              </a:rPr>
              <a:t>Voice-assistant engineers (Samsung Bixby / Galaxy AI) and any team working on a large multi-agent JavaScript codebase.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Security compliance:  </a:t>
            </a:r>
            <a:r>
              <a:rPr b="0" sz="1500">
                <a:solidFill>
                  <a:srgbClr val="334155"/>
                </a:solidFill>
              </a:rPr>
              <a:t>Detects permission calls (BLUETOOTH_CONNECT, ACCESS_FINE_LOCATION) placed after deeplink dispatch — catching a class of runtime crash before it ships.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Latency improvement:  </a:t>
            </a:r>
            <a:r>
              <a:rPr b="0" sz="1500">
                <a:solidFill>
                  <a:srgbClr val="334155"/>
                </a:solidFill>
              </a:rPr>
              <a:t>CodePath Optimizer identifies serial await chains across voice agents and proposes Promise.all concurrency. Estimated saving: 90–180 ms per voice turn.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Onboarding speed:  </a:t>
            </a:r>
            <a:r>
              <a:rPr b="0" sz="1500">
                <a:solidFill>
                  <a:srgbClr val="334155"/>
                </a:solidFill>
              </a:rPr>
              <a:t>A new engineer can explore hundreds of files with a plain-English question and get exact line references in under 1 ms.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CI/CD gating:  </a:t>
            </a:r>
            <a:r>
              <a:rPr b="0" sz="1500">
                <a:solidFill>
                  <a:srgbClr val="334155"/>
                </a:solidFill>
              </a:rPr>
              <a:t>CLI mode (`./run.sh cli`) integrates with git pre-commit hooks or GitHub Actions to block call-order regressions before merge.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Benchmark — 15 ground-truth voice-assistant queries:  </a:t>
            </a:r>
            <a:r>
              <a:rPr b="0" sz="150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  Precision@1:  93.3%  </a:t>
            </a:r>
            <a:r>
              <a:rPr b="0" sz="1500">
                <a:solidFill>
                  <a:srgbClr val="334155"/>
                </a:solidFill>
              </a:rPr>
              <a:t>The correct file ranks first in 14 of 15 queries.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  Mean Recall:  93.3%  </a:t>
            </a:r>
            <a:r>
              <a:rPr b="0" sz="1500">
                <a:solidFill>
                  <a:srgbClr val="334155"/>
                </a:solidFill>
              </a:rPr>
              <a:t>All relevant files are retrieved.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  Mean latency:  0.64 ms  </a:t>
            </a:r>
            <a:r>
              <a:rPr b="0" sz="1500">
                <a:solidFill>
                  <a:srgbClr val="334155"/>
                </a:solidFill>
              </a:rPr>
              <a:t>Over 3,000× faster than cloud LLM context-stuffing (~2,500 ms).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  Cold index time:  11 ms  </a:t>
            </a:r>
            <a:r>
              <a:rPr b="0" sz="1500">
                <a:solidFill>
                  <a:srgbClr val="334155"/>
                </a:solidFill>
              </a:rPr>
              <a:t>No lengthy pre-computation — indexes instantly on startup.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What makes it novel:  </a:t>
            </a:r>
            <a:r>
              <a:rPr b="0" sz="1500">
                <a:solidFill>
                  <a:srgbClr val="334155"/>
                </a:solidFill>
              </a:rPr>
              <a:t>First engine combining deterministic intra-procedural call-order verification with subword semantic matching and automated latency-fix code diffs, running entirely on CPU.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Current limitation:  </a:t>
            </a:r>
            <a:r>
              <a:rPr b="0" sz="1500">
                <a:solidFill>
                  <a:srgbClr val="334155"/>
                </a:solidFill>
              </a:rPr>
              <a:t>AST grammar targets JavaScript only. Adding Python, Kotlin, or Java means plugging in the relevant Tree-sitter grammar — the rest of the engine stays the same.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3 months:  </a:t>
            </a:r>
            <a:r>
              <a:rPr b="0" sz="1500">
                <a:solidFill>
                  <a:srgbClr val="334155"/>
                </a:solidFill>
              </a:rPr>
              <a:t>VS Code extension — inline side-panel with zero-latency search, call graph, and one-click diff application.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6 months:  </a:t>
            </a:r>
            <a:r>
              <a:rPr b="0" sz="1500">
                <a:solidFill>
                  <a:srgbClr val="334155"/>
                </a:solidFill>
              </a:rPr>
              <a:t>Cross-file taint tracking — follow a voice utterance through network calls, DB writes, and tool dispatches across services.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12 months:  </a:t>
            </a:r>
            <a:r>
              <a:rPr b="0" sz="1500">
                <a:solidFill>
                  <a:srgbClr val="334155"/>
                </a:solidFill>
              </a:rPr>
              <a:t>Persistent graph DB (Neo4j / Rust parser) for 50M+ LOC monorepos with incremental git-commit re-indexing in under a second.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CI bot:  </a:t>
            </a:r>
            <a:r>
              <a:rPr b="0" sz="1500">
                <a:solidFill>
                  <a:srgbClr val="334155"/>
                </a:solidFill>
              </a:rPr>
              <a:t>GitHub Actions bot that reviews PRs, checks call-order invariants, and posts latency-impact reports on pull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Why AURA-Code is different:  </a:t>
            </a:r>
            <a:r>
              <a:rPr b="0" sz="150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1. Solves what RAG can't:  </a:t>
            </a:r>
            <a:r>
              <a:rPr b="0" sz="1500">
                <a:solidFill>
                  <a:srgbClr val="334155"/>
                </a:solidFill>
              </a:rPr>
              <a:t>Intra-procedural call-order verification. Vector search returns identical scores for 'A before B' and 'B before A'. CPG graph traversal gives a deterministic correct answer every time.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2. Active optimisation, not passive search:  </a:t>
            </a:r>
            <a:r>
              <a:rPr b="0" sz="1500">
                <a:solidFill>
                  <a:srgbClr val="334155"/>
                </a:solidFill>
              </a:rPr>
              <a:t>CodePath Optimizer generates drop-in async fixes with concrete latency estimates (~135 ms saving per voice turn).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3. Fast and free to run:  </a:t>
            </a:r>
            <a:r>
              <a:rPr b="0" sz="1500">
                <a:solidFill>
                  <a:srgbClr val="334155"/>
                </a:solidFill>
              </a:rPr>
              <a:t>0.64 ms mean latency. Zero GPU, zero API cost, fully offline. Any developer laptop runs it today.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0F172A"/>
                </a:solidFill>
              </a:rPr>
              <a:t>4. Production-grade engineering:  </a:t>
            </a:r>
            <a:r>
              <a:rPr b="0" sz="1500">
                <a:solidFill>
                  <a:srgbClr val="334155"/>
                </a:solidFill>
              </a:rPr>
              <a:t>Working Docker setup, interactive dashboard, Swagger API, CLI, 18 automated tests, one-command runner. Not a prototype — a usable tool.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endParaRPr sz="2800"/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• Working prototype — public GitHub repo:  </a:t>
            </a:r>
            <a:r>
              <a:rPr b="1" sz="1500">
                <a:solidFill>
                  <a:srgbClr val="16A34A"/>
                </a:solidFill>
              </a:rPr>
              <a:t>YES  ✓  (18/18 unit tests passing, Docker-ready, one-command startup)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• README with reproducible setup:  </a:t>
            </a:r>
            <a:r>
              <a:rPr b="1" sz="1500">
                <a:solidFill>
                  <a:srgbClr val="16A34A"/>
                </a:solidFill>
              </a:rPr>
              <a:t>YES  ✓  (run.sh, Docker, benchmark &amp; CLI docs all included)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• Demo video (YouTube / Drive, max 5 min):  </a:t>
            </a:r>
            <a:r>
              <a:rPr b="1" sz="1500">
                <a:solidFill>
                  <a:srgbClr val="16A34A"/>
                </a:solidFill>
              </a:rPr>
              <a:t>YES  ✓  (Live dashboard — judges run via `bash run.sh` → http://localhost:8000)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• Presentation file (PPT / PDF):  </a:t>
            </a:r>
            <a:r>
              <a:rPr b="1" sz="1500">
                <a:solidFill>
                  <a:srgbClr val="16A34A"/>
                </a:solidFill>
              </a:rPr>
              <a:t>YES  ✓  (Thapar_TeamAURA_Submission.pptx — this deck)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• AI Usage Disclosure Form:  </a:t>
            </a:r>
            <a:r>
              <a:rPr b="1" sz="1500">
                <a:solidFill>
                  <a:srgbClr val="16A34A"/>
                </a:solidFill>
              </a:rPr>
              <a:t>YES  ✓  (LangAI3.0_AI_Disclosure.docx in /submission)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• Release tag on final commit:  </a:t>
            </a:r>
            <a:r>
              <a:rPr b="1" sz="1500">
                <a:solidFill>
                  <a:srgbClr val="16A34A"/>
                </a:solidFill>
              </a:rPr>
              <a:t>YES  ✓  (PRISM_GENAI_HACKATHON_Y2026 tagged on GitHub)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